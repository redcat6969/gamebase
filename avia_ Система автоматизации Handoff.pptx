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Manrope SemiBold"/>
      <p:regular r:id="rId23"/>
      <p:bold r:id="rId24"/>
    </p:embeddedFont>
    <p:embeddedFont>
      <p:font typeface="Manrope"/>
      <p:regular r:id="rId25"/>
      <p:bold r:id="rId26"/>
    </p:embeddedFont>
    <p:embeddedFont>
      <p:font typeface="Manrope Medium"/>
      <p:regular r:id="rId27"/>
      <p:bold r:id="rId28"/>
    </p:embeddedFont>
    <p:embeddedFont>
      <p:font typeface="Montserrat ExtraBold"/>
      <p:bold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E2C535-A5E2-411A-85F2-6658F1DD7767}">
  <a:tblStyle styleId="{06E2C535-A5E2-411A-85F2-6658F1DD77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anropeSemiBold-bold.fntdata"/><Relationship Id="rId23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28" Type="http://schemas.openxmlformats.org/officeDocument/2006/relationships/font" Target="fonts/ManropeMedium-bold.fntdata"/><Relationship Id="rId27" Type="http://schemas.openxmlformats.org/officeDocument/2006/relationships/font" Target="fonts/Manrope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regular.fntdata"/><Relationship Id="rId30" Type="http://schemas.openxmlformats.org/officeDocument/2006/relationships/font" Target="fonts/MontserratExtraBold-bold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1025" y="1832669"/>
            <a:ext cx="3409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3157537" y="4615755"/>
            <a:ext cx="5876925" cy="409575"/>
          </a:xfrm>
          <a:prstGeom prst="rect">
            <a:avLst/>
          </a:prstGeom>
          <a:solidFill>
            <a:srgbClr val="282E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38537" y="4711005"/>
            <a:ext cx="5114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MVP: 14 ДНЕЙ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10614" y="2413694"/>
            <a:ext cx="617077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avia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57537" y="3670994"/>
            <a:ext cx="58769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Ускорение Handoff-процессов на сверхзвуке.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381625" y="3490912"/>
            <a:ext cx="14287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488174" y="2614612"/>
            <a:ext cx="5215651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ТОРМОЖЕНИЕ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ПОТОКА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612356" y="3786187"/>
            <a:ext cx="49672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Анализ когнитивной нагрузки и рутины в дизайне.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212"/>
            <a:ext cx="35242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081212"/>
            <a:ext cx="35242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081212"/>
            <a:ext cx="35242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5288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25288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0" y="252888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ОБЛЕМ</a:t>
            </a:r>
            <a:r>
              <a:rPr lang="en-US" sz="3150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Ы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128962"/>
            <a:ext cx="290036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МЕДЛЕННЫЙ РАЗБЕГ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4014775"/>
            <a:ext cx="3143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До 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2 часов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в 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неделю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 уходит </a:t>
            </a:r>
            <a:b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на создание аннотаций, поиск компонентов и выравнивание стрелок флоу.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14875" y="3128962"/>
            <a:ext cx="29003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ТУРБУЛЕНТНОСТЬ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14875" y="3738549"/>
            <a:ext cx="2762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Отсутствие единого стандарта оформления макетов в команде путает коллег и увеличивает время на онбординг.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77250" y="3128962"/>
            <a:ext cx="29003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СЛОЖНЫЙ HANDOFF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77250" y="3738562"/>
            <a:ext cx="276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Разработчикам 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сложнее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 ориентироваться в макетах 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где в каждом файле  своя структура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528637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47937"/>
            <a:ext cx="528637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ГИПОТЕЗЫ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MVP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2938462"/>
            <a:ext cx="4750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ОСНОВНАЯ (ICE: 80)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3548062"/>
            <a:ext cx="452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Если мы автоматизируем создание аннотаций и коннекторов по хоткею, то время описания макета сократится на 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50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% за счет исключения поиска инструментов.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15125" y="2938462"/>
            <a:ext cx="4750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AFFDE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МАСШТАБИРОВАНИЕ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15125" y="3548062"/>
            <a:ext cx="452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Авто-создание паспорта из Jira и стандартная структура файлов обеспечат 100% единообразие макетов в рамках всего отдела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 + ускорения создания нового проекта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2790825"/>
            <a:ext cx="5286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r>
              <a:rPr b="0" i="0" lang="en-US" sz="1500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x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4505325"/>
            <a:ext cx="52863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SPEED FACTOR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КУРС НА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ЭФФЕКТИВНОСТЬ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334125" y="293652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Целевые метрики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34125" y="3346102"/>
            <a:ext cx="5286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Мы сокращаем время технического описания макетов.</a:t>
            </a:r>
            <a:r>
              <a:rPr lang="en-US" sz="1500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и в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ремя подготовки документации. Переходим от ручного рисования к мгновенной автоматизации.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24625" y="4431952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GOAL: SAVING 15m+ PER DESIGNER / DAY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6334125" y="4431952"/>
            <a:ext cx="19050" cy="21327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325778" y="2762250"/>
            <a:ext cx="354044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ПРОТОТИП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MVP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410075" y="3638550"/>
            <a:ext cx="3371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DEADLINE: 14 DAYS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63" y="20590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3143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72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5" y="52706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762000" y="420188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ФУНКЦИОНАЛ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MVP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420188"/>
            <a:ext cx="573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1062025" y="2059075"/>
            <a:ext cx="383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Быстрая заметка: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Хоткей мгновенно добавляет аннотацию под макет.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62025" y="3143768"/>
            <a:ext cx="416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Smart-коннекторы: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Выбор двух экранов — </a:t>
            </a:r>
            <a:b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и нативная стрелка связывает их.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76300" y="4228460"/>
            <a:ext cx="416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Zero-UI: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Плагин работает в фоне через клавиатурные сокращения.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076300" y="5313153"/>
            <a:ext cx="383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Автофокус: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Мгновенная активация ввода текста после создания заметки.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5975"/>
            <a:ext cx="35242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085975"/>
            <a:ext cx="35242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085975"/>
            <a:ext cx="35242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5336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25336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0" y="25336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ТЕХНОЛОГИЧЕСКИЙ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СТЕК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52500" y="3133725"/>
            <a:ext cx="29003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CURSOR AI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52500" y="3743325"/>
            <a:ext cx="2762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Использование AI-агента для скоростного написания TypeScript логики и автоматизации команд терминала.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714875" y="3133725"/>
            <a:ext cx="29003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FIGMA API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714875" y="3743325"/>
            <a:ext cx="2762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Прямое управление ConnectorNode и FrameNode для нативной интеграции в среду проектирования.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477250" y="3133725"/>
            <a:ext cx="29003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FIGMA MCP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477250" y="3743325"/>
            <a:ext cx="2762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Контекстный мост, позволяющий ИИ видеть структуру макета напрямую из редактора кода Cursor.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ГРАФИК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ЗАПУСКА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162175" y="3800475"/>
            <a:ext cx="133350" cy="133350"/>
          </a:xfrm>
          <a:prstGeom prst="roundRect">
            <a:avLst>
              <a:gd fmla="val 14285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88632" y="3097559"/>
            <a:ext cx="34804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НЕДЕЛЯ 1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4021484"/>
            <a:ext cx="33147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MVP: Логика аннотаций, работа с хоткеями и базовое позиционирование.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6029325" y="3800475"/>
            <a:ext cx="133350" cy="133350"/>
          </a:xfrm>
          <a:prstGeom prst="roundRect">
            <a:avLst>
              <a:gd fmla="val 14285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355782" y="3097559"/>
            <a:ext cx="34804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НЕДЕЛЯ 2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438650" y="4021484"/>
            <a:ext cx="33147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MVP: Реализация нативных коннекторов и бета-тесты на реальных проектах.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9896475" y="3800475"/>
            <a:ext cx="133350" cy="133350"/>
          </a:xfrm>
          <a:prstGeom prst="roundRect">
            <a:avLst>
              <a:gd fmla="val 14285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8222932" y="3097559"/>
            <a:ext cx="34804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БУДУЩЕЕ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305800" y="4021484"/>
            <a:ext cx="33147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Интеграция с Jira API, авто-паспорта и генерация структуры файлов.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2"/>
          <p:cNvGraphicFramePr/>
          <p:nvPr/>
        </p:nvGraphicFramePr>
        <p:xfrm>
          <a:off x="571513" y="3171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{06E2C535-A5E2-411A-85F2-6658F1DD7767}</a:tableStyleId>
              </a:tblPr>
              <a:tblGrid>
                <a:gridCol w="3123300"/>
                <a:gridCol w="3526775"/>
                <a:gridCol w="4398900"/>
              </a:tblGrid>
              <a:tr h="6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Стейкхолдер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Ключевой профит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Ожидания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Продукт-дизайнеры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Экономия до </a:t>
                      </a:r>
                      <a:r>
                        <a:rPr lang="en-US" sz="1500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30м </a:t>
                      </a: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 рутины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Скорость и "горячие клавиши"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Разработчики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Прозрачность макетов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Ясный флоу и тех-контекст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Дизайн-лиды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Орднунг в отделе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Manrope Medium"/>
                          <a:ea typeface="Manrope Medium"/>
                          <a:cs typeface="Manrope Medium"/>
                          <a:sym typeface="Manrope Medium"/>
                        </a:rPr>
                        <a:t>Единообразие макетов 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ЦЕННОСТЬ ДЛЯ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КОМАНДЫ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13" y="3820967"/>
            <a:ext cx="31233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694819" y="3820967"/>
            <a:ext cx="35268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221599" y="3820967"/>
            <a:ext cx="43989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71513" y="4530580"/>
            <a:ext cx="3123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694819" y="4530580"/>
            <a:ext cx="35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221599" y="4530580"/>
            <a:ext cx="4398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13" y="5225905"/>
            <a:ext cx="3123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694819" y="5225905"/>
            <a:ext cx="35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7221599" y="5225905"/>
            <a:ext cx="4398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13" y="5921230"/>
            <a:ext cx="3123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694819" y="5921230"/>
            <a:ext cx="35268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221599" y="5921230"/>
            <a:ext cx="43989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25" y="4029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425" y="4582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25" y="5134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425" y="5686975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РИСКИ И </a:t>
            </a:r>
            <a:r>
              <a:rPr b="0" i="0" lang="en-US" sz="315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ПРАВИЛА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1047675" y="400105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Риск API: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Если Figma не даст кастомный хоткей, переходим на Quick Actions для сохранения скорости.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047675" y="455350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Правило успеха: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Если пилот экономит &gt;15 мин в день на человека — внедряем на весь отдел.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047675" y="510595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Правило Jira: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Если интеграция с Jira сложна для MVP — упрощаем до ручного ввода ID задачи.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47675" y="5658400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Правило стопа: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Если баги позиционирования делают плагин медленнее ручного метода.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1025" y="1946969"/>
            <a:ext cx="3409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3519487" y="473958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QUESTIONS? | AVIA MISSION | HANDOFF REDEFINED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3390661" y="2527994"/>
            <a:ext cx="54106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ДЕМО: </a:t>
            </a:r>
            <a:r>
              <a:rPr b="0" i="0" lang="en-US" sz="4500" u="none" cap="none" strike="noStrike">
                <a:solidFill>
                  <a:srgbClr val="DEFF9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 АПРЕЛЯ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3519487" y="3604319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Manrope"/>
                <a:ea typeface="Manrope"/>
                <a:cs typeface="Manrope"/>
                <a:sym typeface="Manrope"/>
              </a:rPr>
              <a:t>Ваш handoff станет быстрее мысли.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